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PRR</c:v>
                </c:pt>
              </c:strCache>
            </c:strRef>
          </c:tx>
          <c:spPr>
            <a:solidFill>
              <a:srgbClr val="99001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31F2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9001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C2B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9C2B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9C2B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9C2BD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Drug E +
MI</c:v>
                  </c:pt>
                  <c:pt idx="1">
                    <c:v>Drug D +
Fatigue</c:v>
                  </c:pt>
                  <c:pt idx="2">
                    <c:v>Drug C +
Rash</c:v>
                  </c:pt>
                  <c:pt idx="3">
                    <c:v>Drug C +
Liver inj.</c:v>
                  </c:pt>
                  <c:pt idx="4">
                    <c:v>Drug A +
Dizziness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3.13</c:v>
                </c:pt>
                <c:pt idx="1">
                  <c:v>1.26</c:v>
                </c:pt>
                <c:pt idx="2">
                  <c:v>1.18</c:v>
                </c:pt>
                <c:pt idx="3">
                  <c:v>1.17</c:v>
                </c:pt>
                <c:pt idx="4">
                  <c:v>1.17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231F2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0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Completeness</c:v>
                </c:pt>
              </c:strCache>
            </c:strRef>
          </c:tx>
          <c:spPr>
            <a:solidFill>
              <a:srgbClr val="99001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31F2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9001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9001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F3C7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F3C7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F3C7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Module 5
Clinical</c:v>
                  </c:pt>
                  <c:pt idx="1">
                    <c:v>Module 3
Quality</c:v>
                  </c:pt>
                  <c:pt idx="2">
                    <c:v>Module 2
Summaries</c:v>
                  </c:pt>
                  <c:pt idx="3">
                    <c:v>Module 1
Admin</c:v>
                  </c:pt>
                  <c:pt idx="4">
                    <c:v>Module 4
Nonclinical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</c:v>
                </c:pt>
                <c:pt idx="1">
                  <c:v>66.7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31F2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</c:scaling>
        <c:delete val="0"/>
        <c:axPos val="b"/>
        <c:majorGridlines>
          <c:spPr>
            <a:ln w="12700" cap="flat">
              <a:solidFill>
                <a:srgbClr val="E5E0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 ·  CRITICAL NOW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8686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Drug Safety Signal Detector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Regulatory Submission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Readiness Checker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977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Bob Copilot that catches the safety signal regulators missed —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dossier gap that costs $50–100M in delay.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5029200"/>
            <a:ext cx="2926080" cy="0"/>
          </a:xfrm>
          <a:prstGeom prst="line">
            <a:avLst/>
          </a:prstGeom>
          <a:noFill/>
          <a:ln w="38100">
            <a:solidFill>
              <a:srgbClr val="99001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5212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AI Innovation Hackathon 2026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532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— Built with IBM Bob IDE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784080" y="1920240"/>
            <a:ext cx="1463040" cy="1463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784080" y="192024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⚕</a:t>
            </a:r>
            <a:endParaRPr lang="en-US" sz="4480" dirty="0"/>
          </a:p>
        </p:txBody>
      </p:sp>
      <p:sp>
        <p:nvSpPr>
          <p:cNvPr id="10" name="Shape 8"/>
          <p:cNvSpPr/>
          <p:nvPr/>
        </p:nvSpPr>
        <p:spPr>
          <a:xfrm>
            <a:off x="9646920" y="1783080"/>
            <a:ext cx="1737360" cy="1737360"/>
          </a:xfrm>
          <a:prstGeom prst="ellipse">
            <a:avLst/>
          </a:prstGeom>
          <a:ln w="25400">
            <a:solidFill>
              <a:srgbClr val="99001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 complex data for manual review — with catastrophic cost on both sides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F1EDE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20M+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7889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event reports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 in FDA's FAERS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— unscreened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human scale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0" y="160020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F1EDE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17720" y="18745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27,000+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27889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attacks linked to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Vioxx before its safety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was acted 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0" y="160020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F1EDE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58200" y="18745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$50–100M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8458200" y="27889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a single rejected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approval submission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to one missing page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52628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2F3C7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47091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both problems come down to the same failure — humans cannot manually scan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reports, or a 100,000-page dossier, fast enough to catch what matters before it's too late.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Experiences This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users inside the company, with patients as the ultimate stakeholder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94360" cy="59436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182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67335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Pharmacovigilance &amp; Drug Safety Teams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39112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review adverse event reports — the team that would have caught (or missed) a Vioxx-style signal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594360" cy="59436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743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</a:t>
            </a:r>
            <a:endParaRPr lang="en-US" sz="182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72491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Affairs Teams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090672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the CTD dossier and absorb the cost of a rejected submission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594360" cy="59436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794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182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77647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Agencies (FDA, EMA, MHRA)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142232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safety databases industry-wide and review submissions for completeness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846320"/>
            <a:ext cx="594360" cy="59436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846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♥</a:t>
            </a:r>
            <a:endParaRPr lang="en-US" sz="182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82803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&amp; Prescribing Physicians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5193792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 the consequence of a missed signal, or the delay of a rejected, life-changing therapy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Bob Copilot, two modes — the same statistical rigor regulators actually use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0352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9050">
            <a:solidFill>
              <a:srgbClr val="F1ED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20240"/>
            <a:ext cx="548640" cy="54864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8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9659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 Detection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5176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adverse event reports and flags drug/event pairs with disproportionate reporting using PRR (Proportional Reporting Ratio) and Chi-square — the same Evans criteria (PRR ≥ 2, Chi² ≥ 4, cases ≥ 3) used in real pharmacovigilance signal screening.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68680" y="4526280"/>
            <a:ext cx="4663440" cy="868680"/>
          </a:xfrm>
          <a:prstGeom prst="roundRect">
            <a:avLst>
              <a:gd name="adj" fmla="val 8421"/>
            </a:avLst>
          </a:prstGeom>
          <a:solidFill>
            <a:srgbClr val="F1EDE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" y="46634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Caught: Drug E + Myocardial Infarction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PRR = 3.13   |   Chi² = 259.79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26480" y="1600200"/>
            <a:ext cx="530352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9050">
            <a:solidFill>
              <a:srgbClr val="F1ED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0" y="1920240"/>
            <a:ext cx="548640" cy="54864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4652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80" dirty="0"/>
          </a:p>
        </p:txBody>
      </p:sp>
      <p:sp>
        <p:nvSpPr>
          <p:cNvPr id="14" name="Text 12"/>
          <p:cNvSpPr txBox="1"/>
          <p:nvPr/>
        </p:nvSpPr>
        <p:spPr>
          <a:xfrm>
            <a:off x="7178040" y="19659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Submission Readiness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65176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a submitted dossier's section outline against the ICH M4 CTD required structure across all 5 modules, scores completeness per module, and generates a plain-English gap report before the regulator ever sees it.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46520" y="4526280"/>
            <a:ext cx="4663440" cy="868680"/>
          </a:xfrm>
          <a:prstGeom prst="roundRect">
            <a:avLst>
              <a:gd name="adj" fmla="val 8421"/>
            </a:avLst>
          </a:prstGeom>
          <a:solidFill>
            <a:srgbClr val="F1EDE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29400" y="46634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Caught: 3 of 22 required CTD sections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before submission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four-stage pipeline, built with IBM Bob IDE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2377440"/>
            <a:ext cx="2331720" cy="2011680"/>
          </a:xfrm>
          <a:prstGeom prst="roundRect">
            <a:avLst>
              <a:gd name="adj" fmla="val 4545"/>
            </a:avLst>
          </a:prstGeom>
          <a:solidFill>
            <a:srgbClr val="2F3C7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4871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803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7472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1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event reports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1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dossier outline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017520" y="306324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520440" y="2377440"/>
            <a:ext cx="2331720" cy="2011680"/>
          </a:xfrm>
          <a:prstGeom prst="roundRect">
            <a:avLst>
              <a:gd name="adj" fmla="val 4545"/>
            </a:avLst>
          </a:prstGeom>
          <a:solidFill>
            <a:srgbClr val="2F3C7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57600" y="24871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28803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 Detector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347472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1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PRR / Chi-square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1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disproportionality analysis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852160" y="306324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355080" y="2377440"/>
            <a:ext cx="2331720" cy="2011680"/>
          </a:xfrm>
          <a:prstGeom prst="roundRect">
            <a:avLst>
              <a:gd name="adj" fmla="val 4545"/>
            </a:avLst>
          </a:prstGeom>
          <a:solidFill>
            <a:srgbClr val="2F3C7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92240" y="24871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28803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Submission Checker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47472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1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M4 CTD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1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 scoring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686800" y="306324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9189720" y="2377440"/>
            <a:ext cx="2331720" cy="2011680"/>
          </a:xfrm>
          <a:prstGeom prst="roundRect">
            <a:avLst>
              <a:gd name="adj" fmla="val 4545"/>
            </a:avLst>
          </a:prstGeom>
          <a:solidFill>
            <a:srgbClr val="99001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326880" y="24871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326880" y="28803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326880" y="347472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1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signals +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1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report + charts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4846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files: data_generator.py  ·  signal_detector.py  ·  submission_checker.py  ·  main.py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Validation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our test dataset — real output from the working prototype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Signals by PRR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828800"/>
          <a:ext cx="53949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263640" y="15087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CTD Completeness by Module (%)</a:t>
            </a:r>
            <a:endParaRPr lang="en-US" sz="13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263640" y="1828800"/>
          <a:ext cx="53949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4892040"/>
            <a:ext cx="11201400" cy="914400"/>
          </a:xfrm>
          <a:prstGeom prst="roundRect">
            <a:avLst>
              <a:gd name="adj" fmla="val 10000"/>
            </a:avLst>
          </a:prstGeom>
          <a:solidFill>
            <a:srgbClr val="2F3C7E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5029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Validated: correctly isolated 1 genuine signal out of 5 candidate pairs, and 3 missing sections out of 22 — in seconds.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&amp; Next Steps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vs. After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F1EDE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7830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031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83464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manual analyst review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scan reports and check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dossier by hand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15468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794760" y="155448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2F3C7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977640" y="17830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977640" y="21031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Seconds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3977640" y="283464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1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ranked signal report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1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 complete gap report,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1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demand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0" y="1097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0" y="1645920"/>
            <a:ext cx="128016" cy="128016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0" y="149047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real openFDA FAERS data via API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858000" y="2514600"/>
            <a:ext cx="128016" cy="128016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132320" y="235915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severity &amp; causality classification, not just statistical flagging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858000" y="3383280"/>
            <a:ext cx="128016" cy="128016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32320" y="322783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reviewer-facing web dashboard on top of the existing pipeline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66360" y="1188720"/>
            <a:ext cx="1828800" cy="1828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166360" y="11887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⚕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5029200" y="1051560"/>
            <a:ext cx="2103120" cy="2103120"/>
          </a:xfrm>
          <a:prstGeom prst="ellipse">
            <a:avLst/>
          </a:prstGeom>
          <a:ln w="25400">
            <a:solidFill>
              <a:srgbClr val="99001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34290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114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Safety Signal Detector &amp; Regulatory Submission Readiness Checker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166360" y="4754880"/>
            <a:ext cx="1828800" cy="0"/>
          </a:xfrm>
          <a:prstGeom prst="line">
            <a:avLst/>
          </a:prstGeom>
          <a:noFill/>
          <a:ln w="25400">
            <a:solidFill>
              <a:srgbClr val="99001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IBM Bob IDE  ·  IBM BoB AI Innovation Hackathon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2026-09-14T11:20:03Z</dcterms:created>
  <dcterms:modified xsi:type="dcterms:W3CDTF">2026-09-14T11:20:03Z</dcterms:modified>
</cp:coreProperties>
</file>